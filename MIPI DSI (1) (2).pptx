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0" r:id="rId6"/>
    <p:sldId id="278" r:id="rId7"/>
    <p:sldId id="271" r:id="rId8"/>
    <p:sldId id="259" r:id="rId9"/>
    <p:sldId id="260" r:id="rId10"/>
    <p:sldId id="262" r:id="rId11"/>
    <p:sldId id="277" r:id="rId12"/>
    <p:sldId id="263" r:id="rId13"/>
    <p:sldId id="261" r:id="rId14"/>
    <p:sldId id="273" r:id="rId15"/>
    <p:sldId id="274" r:id="rId16"/>
    <p:sldId id="264" r:id="rId17"/>
    <p:sldId id="266" r:id="rId18"/>
    <p:sldId id="267" r:id="rId19"/>
    <p:sldId id="275" r:id="rId20"/>
    <p:sldId id="276" r:id="rId21"/>
    <p:sldId id="268" r:id="rId22"/>
    <p:sldId id="269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2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85" y="2209800"/>
            <a:ext cx="12082780" cy="1082675"/>
          </a:xfrm>
        </p:spPr>
        <p:txBody>
          <a:bodyPr/>
          <a:lstStyle/>
          <a:p>
            <a:r>
              <a:rPr lang="en-GB" altLang="en-US" dirty="0">
                <a:latin typeface="Times New Roman" panose="02020603050405020304" charset="0"/>
                <a:cs typeface="Times New Roman" panose="02020603050405020304" charset="0"/>
              </a:rPr>
              <a:t>MIPI DSI</a:t>
            </a:r>
            <a:br>
              <a:rPr lang="en-GB" altLang="en-US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GB" altLang="en-US" dirty="0">
                <a:latin typeface="Times New Roman" panose="02020603050405020304" charset="0"/>
                <a:cs typeface="Times New Roman" panose="02020603050405020304" charset="0"/>
              </a:rPr>
              <a:t>(Mobile Industry Processor Interface Display Serial Interface)</a:t>
            </a:r>
            <a:endParaRPr lang="en-GB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2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GB" altLang="en-US" sz="32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The Display Serial Interface (DSI) specification defines protocols between a host processor and peripheral display devices that adhere to MIPI Alliance standards for mobile displays.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Font typeface="Wingdings" panose="05000000000000000000" charset="0"/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MIPI DSI provides a high-speed, low-power serial interface using MIPI D-PHY, enabling efficient transfer of pixel and command data over multiple data lanes with a dedicated clock lane.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Font typeface="Wingdings" panose="05000000000000000000" charset="0"/>
              <a:buNone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The DSI controller includes programmable registers for lane management, timing control, error detection, and interrupt handling. Data is sent in packets (short or long) with ECC/CRC protection over virtual channels.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2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Features</a:t>
            </a:r>
            <a:endParaRPr lang="en-GB" altLang="en-US" sz="32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23620"/>
            <a:ext cx="10972800" cy="4953000"/>
          </a:xfrm>
        </p:spPr>
        <p:txBody>
          <a:bodyPr/>
          <a:lstStyle/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1 and 2 lane configurations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Unidirectional High-Speed mode transfer (HS-TX)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Bidirectional LP mode transfer/receipt (LP-TX/LP-RX) (Only Lane 0)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ECC/Checksum generation for TX packet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ECC/Checksum verification and ECC error correction for RX packet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Automated power change to LP mode and return to HS mode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Automated clock stop and resume (Non-Continuous Clock mode)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Assignment for virtual channel in Video mode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Assignment for individual virtual channel for each packet in Command mode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Detection for PHY contention error and timeout error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Generation of scrambled packets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Input of TE signal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It operates in Low power, ULPS, HS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Video mode timing diagram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604" y="1174750"/>
            <a:ext cx="5746792" cy="49530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GUID-03F5AFE8-5777-4C10-A098-E7BB1F51ABD7-low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6680" y="607695"/>
            <a:ext cx="10532745" cy="4481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5-11-25 10351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98470" y="-635"/>
            <a:ext cx="61950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268200" cy="6912610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Modes</a:t>
            </a:r>
            <a:endParaRPr lang="en-GB" altLang="en-US" dirty="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The interface supports two operating modes: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High-Speed (HS) for video/pixel data mode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         -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Parallel input format RGB888(24bits),RGB666(18bits),RGB565(16bits)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  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-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Output format RGB (16 bits, 18 bits, 24bits )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   -  Video mode packet sequence 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  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 -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Non burst mode with sync pulse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  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 -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Non burst mode with sync event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    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Burst mode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    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Selectable blanking packet or LP-11 during each of blanking interval of HSA, HBP, and HFP 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   </a:t>
            </a:r>
            <a:endParaRPr lang="en-GB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 Low-Power (LP) for command and control transfers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-  Sequence operation channel 0 : LP-only packet generation and LP packet reception from </a:t>
            </a:r>
            <a:r>
              <a:rPr lang="en-US" altLang="en-GB" sz="2000" dirty="0" err="1">
                <a:latin typeface="Times New Roman" panose="02020603050405020304" charset="0"/>
                <a:cs typeface="Times New Roman" panose="02020603050405020304" charset="0"/>
              </a:rPr>
              <a:t>desriptor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list                    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</a:t>
            </a:r>
            <a:endParaRPr lang="en-GB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-  Sequence operation channel 1 : HS or LP packet generation and LP packet reception from descriptor list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Interfaces: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GLCDC, AHB, PPI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20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Block Diagram</a:t>
            </a:r>
            <a:endParaRPr lang="en-GB" altLang="en-US" sz="3200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41400"/>
            <a:ext cx="8055609" cy="49530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" y="0"/>
            <a:ext cx="12133580" cy="6857365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1. Input Interfaces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      a) Display Engine (GLCDC Interface)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-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The GLCDC (Graphics LCD Controller) provides pixel data to the DSI Host Controller.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-The data is typically sent as RGB888, RGB666, or RGB101010 format, depending on configuration.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       b)Host/Application Processor (AHB Interface)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The Host CPU accesses the DSI controller through the AHB bus interface.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-It performs register read/write operations to configure the DSI Host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2. Core Operation – DSI Host Controller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-The DSI Host Controller is responsible for: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-Packet generation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-mode management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-lane management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-clock control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	-protocol timing control</a:t>
            </a:r>
            <a:b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3. PPI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Converts parallel data from the DSI Host into differential high-speed signals compliant with the MIPI D-PHY specification.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GB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Screenshot 2025-11-26 12212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42645" y="483870"/>
            <a:ext cx="8338820" cy="53574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sz="320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Functional diagram of DSI Controller</a:t>
            </a:r>
            <a:endParaRPr lang="en-US" altLang="en-GB" sz="3200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275" y="1111997"/>
            <a:ext cx="5928814" cy="49530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393700"/>
            <a:ext cx="11938000" cy="6391910"/>
          </a:xfrm>
        </p:spPr>
        <p:txBody>
          <a:bodyPr/>
          <a:lstStyle/>
          <a:p>
            <a:pPr>
              <a:buFont typeface="Wingdings" panose="05000000000000000000" charset="0"/>
              <a:buChar char="§"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GB" altLang="en-US" sz="20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Control Registers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sz="2000" dirty="0"/>
              <a:t>Holds configuration and status registers accessible via AHB interface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Used for command/video mode setup, pixel format, and timing configuration.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Line FIFO (0,1)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IN" sz="2000" dirty="0"/>
              <a:t>Dual line buffers for storing pixel data from GLCDC (Display Engine).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	Supports asynchronous clocks (Pixel vs 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DSI clock).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 b="1" dirty="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Video Mode Application / Packet Generation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sz="2000" dirty="0"/>
              <a:t>Reads pixel data from FIFO and generates MIPI long packets per frame timing.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 b="1" dirty="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Word Count Calculator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sz="2000" dirty="0"/>
              <a:t>Calculates payload byte count based on pixel format and active resolution.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en-GB" sz="2000" b="1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Packetizer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Generates MIPI-compliant short and long packets with ECC (header) and CRC (payload).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Ensures data integrity before transmission to Lane Manager.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GB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Lane Manager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sz="2000" dirty="0"/>
              <a:t>Interfaces with D-PHY through PPI (PHY Protocol Interface).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Distributes data across lanes in HS mode and handles LP mode on Lane 0.</a:t>
            </a:r>
            <a:endParaRPr lang="en-US" sz="2000" dirty="0"/>
          </a:p>
          <a:p>
            <a:pPr marL="0" indent="0">
              <a:buNone/>
            </a:pP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GB" alt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endParaRPr lang="en-GB" altLang="en-US" sz="2000" dirty="0"/>
          </a:p>
          <a:p>
            <a:pPr marL="0" indent="0">
              <a:buNone/>
            </a:pP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2000" b="1" dirty="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chemeClr val="accent2"/>
                </a:solidFill>
              </a:rPr>
              <a:t>Short packet</a:t>
            </a:r>
            <a:endParaRPr lang="en-IN" sz="3200" dirty="0">
              <a:solidFill>
                <a:schemeClr val="accent2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11" y="1210236"/>
            <a:ext cx="8066494" cy="4222376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chemeClr val="accent2"/>
                </a:solidFill>
              </a:rPr>
              <a:t>Long Packet</a:t>
            </a:r>
            <a:endParaRPr lang="en-IN" sz="3200" dirty="0">
              <a:solidFill>
                <a:schemeClr val="accent2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972" y="1419301"/>
            <a:ext cx="7030431" cy="4248743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401955"/>
            <a:ext cx="10972800" cy="4953000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endParaRPr lang="en-GB" altLang="en-US" sz="20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772" y="0"/>
            <a:ext cx="75784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205" y="356870"/>
            <a:ext cx="11212195" cy="6353810"/>
          </a:xfrm>
        </p:spPr>
        <p:txBody>
          <a:bodyPr/>
          <a:lstStyle/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1. Dual Channel Structure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The DSI Host supports two independent sequence channels: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       -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Channel-0 (SQCH0)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       -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Channel-1 (SQCH1)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2. Descriptor-Based Operation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Each channel has eight descriptors (Descriptor-0 to Descriptor-7).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Every descriptor contains a set of control and address registers: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        -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SQCHxDSCOAR – Descriptor Command Operation Address Register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        -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SQCHxDSCOBR – Descriptor Command Operation Byte Count Register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        -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SQCHxDSCOCR – Descriptor Command Operation Control Register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       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SQCHxDSCODR – Descriptor Command Operation Data Register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3. AXI Bus Interface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All descriptors access memory through the AXI bus.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4. Packet Payload Data Registers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The controller includes dedicated Packet Payload Data Registers: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       -Transmit Packet Payload Data Registers (TXPPDxR) – up to 16 bytes.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       -Receive Packet Payload Data Registers (PXPPDxR) – up to 16 bytes.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      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26060" y="407035"/>
          <a:ext cx="11579860" cy="2286635"/>
        </p:xfrm>
        <a:graphic>
          <a:graphicData uri="http://schemas.openxmlformats.org/drawingml/2006/table">
            <a:tbl>
              <a:tblPr/>
              <a:tblGrid>
                <a:gridCol w="11579860"/>
              </a:tblGrid>
              <a:tr h="2286635">
                <a:tc>
                  <a:txBody>
                    <a:bodyPr/>
                    <a:lstStyle/>
                    <a:p>
                      <a:pPr algn="l" fontAlgn="b"/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5. Data Flow</a:t>
                      </a:r>
                      <a:b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       Transmit Path</a:t>
                      </a:r>
                      <a:b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       Receive Path</a:t>
                      </a:r>
                      <a:b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6. Channel Functions</a:t>
                      </a:r>
                      <a:b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        Channel-0: Typically handles Low-Power (LP) command sequences.</a:t>
                      </a:r>
                      <a:b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        Channel-1: Can operate in HS or LP modes, supporting both command and video sequence operations.</a:t>
                      </a:r>
                      <a:b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</a:br>
                      <a:r>
                        <a:rPr sz="2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 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9842" marR="9842" marT="98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32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Single Packet Transmission</a:t>
            </a:r>
            <a:endParaRPr lang="en-US" altLang="en-GB" sz="3200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195" y="935355"/>
            <a:ext cx="10911205" cy="5192395"/>
          </a:xfrm>
        </p:spPr>
        <p:txBody>
          <a:bodyPr/>
          <a:p>
            <a:r>
              <a:rPr lang="en-US" altLang="en-GB" sz="2000"/>
              <a:t> In the non-read packet transmission, set the following registers before sending the packets.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</a:t>
            </a:r>
            <a:r>
              <a:rPr lang="en-US" altLang="en-GB" sz="2000"/>
              <a:t> SQCHnDSCmAR.NXACT[1:0] : 00b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SQCHnDSCmAR.FMT : 0 (Short packet) or 1 (Long packet)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</a:t>
            </a:r>
            <a:r>
              <a:rPr lang="en-US" altLang="en-GB" sz="2000"/>
              <a:t> SQCHnDSCmAR.SPD : 0 (High speed) or 1 (Low speed)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SQCHnDSCmAR.BTA[1:0] : 00b (without BTA) or 01b (with BTA)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SQCHnDSCmAR.VC[1:0]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SQCHnDSCmAR.DT[5:0]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 </a:t>
            </a:r>
            <a:r>
              <a:rPr lang="en-US" altLang="en-GB" sz="2000"/>
              <a:t>SQCHnDSCmAR.DATA0[7:0]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SQCHnDSCmAR.DATA1[7:0]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SQCHnDSCmBR.DTSEL[1:0] : Specify where to store the payload data for the non-read </a:t>
            </a:r>
            <a:r>
              <a:rPr lang="en-GB" altLang="en-US" sz="2000"/>
              <a:t>     </a:t>
            </a:r>
            <a:endParaRPr lang="en-GB" altLang="en-US" sz="2000"/>
          </a:p>
          <a:p>
            <a:pPr marL="0" indent="0">
              <a:buNone/>
            </a:pPr>
            <a:r>
              <a:rPr lang="en-GB" altLang="en-US" sz="2000"/>
              <a:t>                                                        </a:t>
            </a:r>
            <a:r>
              <a:rPr lang="en-US" altLang="en-GB" sz="2000"/>
              <a:t>packets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</a:t>
            </a:r>
            <a:r>
              <a:rPr lang="en-US" altLang="en-GB" sz="2000"/>
              <a:t>00b: TXPPDxR (x = 0 to 3). Payloads size is limited up to 16 bytes.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01b: Memory space. Payloads size is limited up to 4 KB.</a:t>
            </a:r>
            <a:endParaRPr lang="en-US" altLang="en-GB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230" y="241935"/>
            <a:ext cx="10972800" cy="4953000"/>
          </a:xfrm>
        </p:spPr>
        <p:txBody>
          <a:bodyPr/>
          <a:p>
            <a:pPr marL="0" indent="0">
              <a:buNone/>
            </a:pPr>
            <a:r>
              <a:rPr lang="en-US" altLang="en-GB" sz="2000"/>
              <a:t> After the above settings, send a non-read packet by setting the SQCHnSET0R.START bit to 1. When single packet</a:t>
            </a:r>
            <a:r>
              <a:rPr lang="en-GB" altLang="en-US" sz="2000"/>
              <a:t> </a:t>
            </a:r>
            <a:r>
              <a:rPr lang="en-US" altLang="en-GB" sz="2000"/>
              <a:t>transmission is complete, the SQCHnSR.ADESFIN bit is set to 1</a:t>
            </a: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r>
              <a:rPr lang="en-US" altLang="en-GB" sz="2000"/>
              <a:t> When the SQCHnDSCmAR.BTA[1:0] bits are set to 01b, BTA takes place after sending a non-read packet. </a:t>
            </a:r>
            <a:endParaRPr lang="en-US" altLang="en-GB" sz="2000"/>
          </a:p>
          <a:p>
            <a:r>
              <a:rPr lang="en-US" altLang="en-GB" sz="2000"/>
              <a:t>After DSI Host gives bus ownership to the peripheral, an ACK trigger message or an Acknowledge and Error Report packet may be</a:t>
            </a:r>
            <a:r>
              <a:rPr lang="en-GB" altLang="en-US" sz="2000"/>
              <a:t> </a:t>
            </a:r>
            <a:r>
              <a:rPr lang="en-US" altLang="en-GB" sz="2000"/>
              <a:t>returned from the peripheral.</a:t>
            </a:r>
            <a:endParaRPr lang="en-US" altLang="en-GB" sz="2000"/>
          </a:p>
          <a:p>
            <a:r>
              <a:rPr lang="en-US" altLang="en-GB" sz="2000"/>
              <a:t> You can get a summary of the reception result by reading the RXRSSxR register with the number x specified in the SQCHnDSCmCR.ACTCODE[7:0] bits, and you can get the reception result details by reading the RXSR register</a:t>
            </a:r>
            <a:endParaRPr lang="en-US" altLang="en-GB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Delay adjustment for video mode</a:t>
            </a:r>
            <a:endParaRPr lang="en-GB" altLang="en-US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686" y="1820282"/>
            <a:ext cx="8316486" cy="2962688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" y="544195"/>
            <a:ext cx="10972800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The DSI Host has a 4 KB video buffer to input video stream from GLCDC.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-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It is necessary to use the VMSET1R.DLY[11:0] bits to adjust the delay time for reading from the video 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GB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buffer to prevent the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video buffer from overflowing or underflowing during Video mode operation.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The delay time is derived from the following formula: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GB" altLang="en-US" sz="2000">
                <a:latin typeface="Times New Roman" panose="02020603050405020304" charset="0"/>
                <a:cs typeface="Times New Roman" panose="02020603050405020304" charset="0"/>
              </a:rPr>
              <a:t>          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Delay time [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µ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s] = VMSET1R.DLY[11:0]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(period of HS serial UI) [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µ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s]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32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182" y="1174750"/>
            <a:ext cx="5961468" cy="4222003"/>
          </a:xfr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1*180"/>
  <p:tag name="TABLE_ENDDRAG_RECT" val="9*327*911*180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6823</Words>
  <Application>WPS Presentation</Application>
  <PresentationFormat>Widescreen</PresentationFormat>
  <Paragraphs>148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Calibri</vt:lpstr>
      <vt:lpstr>Times New Roman</vt:lpstr>
      <vt:lpstr>Blue Waves</vt:lpstr>
      <vt:lpstr>MIPI DSI (Mobile Industry Processor Interface Display Serial Interface)</vt:lpstr>
      <vt:lpstr>Introduction</vt:lpstr>
      <vt:lpstr>Features</vt:lpstr>
      <vt:lpstr>Video mode timing diagram</vt:lpstr>
      <vt:lpstr>PowerPoint 演示文稿</vt:lpstr>
      <vt:lpstr>PowerPoint 演示文稿</vt:lpstr>
      <vt:lpstr>PowerPoint 演示文稿</vt:lpstr>
      <vt:lpstr>Block Diagram</vt:lpstr>
      <vt:lpstr>PowerPoint 演示文稿</vt:lpstr>
      <vt:lpstr>PowerPoint 演示文稿</vt:lpstr>
      <vt:lpstr>Functional diagram of DSI Controller</vt:lpstr>
      <vt:lpstr>PowerPoint 演示文稿</vt:lpstr>
      <vt:lpstr>Short packet</vt:lpstr>
      <vt:lpstr>Long Packet</vt:lpstr>
      <vt:lpstr>PowerPoint 演示文稿</vt:lpstr>
      <vt:lpstr>PowerPoint 演示文稿</vt:lpstr>
      <vt:lpstr>PowerPoint 演示文稿</vt:lpstr>
      <vt:lpstr> Single Packet Transmission</vt:lpstr>
      <vt:lpstr>PowerPoint 演示文稿</vt:lpstr>
      <vt:lpstr>Delay adjustment for video mode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pasul</cp:lastModifiedBy>
  <cp:revision>17</cp:revision>
  <dcterms:created xsi:type="dcterms:W3CDTF">2025-07-23T00:59:00Z</dcterms:created>
  <dcterms:modified xsi:type="dcterms:W3CDTF">2025-11-27T04:05:17Z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D503C5C12A814972874CDAE082D8407D_11</vt:lpwstr>
  </property>
  <property fmtid="{D5CDD505-2E9C-101B-9397-08002B2CF9AE}" pid="3" name="KSOProductBuildVer">
    <vt:lpwstr>2057-12.2.0.23158</vt:lpwstr>
  </property>
</Properties>
</file>